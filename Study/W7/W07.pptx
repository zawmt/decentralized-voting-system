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56bbe9821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e56bbe9821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56bbe9821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56bbe9821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e56bbe9821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e56bbe9821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e56bbe9821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e56bbe9821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56bbe9821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56bbe9821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56bbe9821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e56bbe9821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6663300" cy="9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741B47"/>
                </a:solidFill>
              </a:rPr>
              <a:t>Decentralised Voting System</a:t>
            </a:r>
            <a:endParaRPr>
              <a:solidFill>
                <a:srgbClr val="741B47"/>
              </a:solidFill>
            </a:endParaRPr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741B47"/>
                </a:solidFill>
              </a:rPr>
              <a:t>Presented by Group 2</a:t>
            </a:r>
            <a:endParaRPr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ctrTitle"/>
          </p:nvPr>
        </p:nvSpPr>
        <p:spPr>
          <a:xfrm>
            <a:off x="4572000" y="4610475"/>
            <a:ext cx="44214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GB" sz="1440">
                <a:solidFill>
                  <a:srgbClr val="741B47"/>
                </a:solidFill>
              </a:rPr>
              <a:t>Decentralised Voting System - </a:t>
            </a:r>
            <a:r>
              <a:rPr b="0" lang="en-GB" sz="1240">
                <a:solidFill>
                  <a:srgbClr val="741B47"/>
                </a:solidFill>
              </a:rPr>
              <a:t>Presented by Group 2</a:t>
            </a:r>
            <a:endParaRPr b="0" sz="1240">
              <a:solidFill>
                <a:srgbClr val="741B47"/>
              </a:solidFill>
            </a:endParaRPr>
          </a:p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229700" y="1764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 u="sng">
                <a:solidFill>
                  <a:srgbClr val="741B47"/>
                </a:solidFill>
              </a:rPr>
              <a:t>About Project</a:t>
            </a:r>
            <a:endParaRPr b="1" sz="2500" u="sng">
              <a:solidFill>
                <a:srgbClr val="741B47"/>
              </a:solidFill>
            </a:endParaRPr>
          </a:p>
        </p:txBody>
      </p:sp>
      <p:sp>
        <p:nvSpPr>
          <p:cNvPr id="285" name="Google Shape;285;p14"/>
          <p:cNvSpPr txBox="1"/>
          <p:nvPr>
            <p:ph idx="1" type="subTitle"/>
          </p:nvPr>
        </p:nvSpPr>
        <p:spPr>
          <a:xfrm>
            <a:off x="663625" y="933550"/>
            <a:ext cx="7730700" cy="28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A </a:t>
            </a:r>
            <a:r>
              <a:rPr b="1" lang="en-GB" sz="3000">
                <a:solidFill>
                  <a:srgbClr val="741B47"/>
                </a:solidFill>
              </a:rPr>
              <a:t>decentralized</a:t>
            </a:r>
            <a:r>
              <a:rPr b="1" lang="en-GB">
                <a:solidFill>
                  <a:srgbClr val="741B47"/>
                </a:solidFill>
              </a:rPr>
              <a:t> </a:t>
            </a:r>
            <a:endParaRPr b="1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              </a:t>
            </a:r>
            <a:br>
              <a:rPr b="1" lang="en-GB">
                <a:solidFill>
                  <a:srgbClr val="741B47"/>
                </a:solidFill>
              </a:rPr>
            </a:br>
            <a:r>
              <a:rPr b="1" lang="en-GB">
                <a:solidFill>
                  <a:srgbClr val="741B47"/>
                </a:solidFill>
              </a:rPr>
              <a:t>            </a:t>
            </a:r>
            <a:r>
              <a:rPr b="1" i="1" lang="en-GB" sz="2400">
                <a:solidFill>
                  <a:srgbClr val="741B47"/>
                </a:solidFill>
              </a:rPr>
              <a:t>voting application</a:t>
            </a:r>
            <a:r>
              <a:rPr b="1" lang="en-GB">
                <a:solidFill>
                  <a:srgbClr val="741B47"/>
                </a:solidFill>
              </a:rPr>
              <a:t> built with a </a:t>
            </a:r>
            <a:r>
              <a:rPr b="1" lang="en-GB" sz="1900">
                <a:solidFill>
                  <a:srgbClr val="741B47"/>
                </a:solidFill>
              </a:rPr>
              <a:t>Solidity</a:t>
            </a:r>
            <a:r>
              <a:rPr b="1" lang="en-GB">
                <a:solidFill>
                  <a:srgbClr val="741B47"/>
                </a:solidFill>
              </a:rPr>
              <a:t> smart contract </a:t>
            </a:r>
            <a:endParaRPr b="1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                    on </a:t>
            </a:r>
            <a:r>
              <a:rPr b="1" lang="en-GB" sz="2100">
                <a:solidFill>
                  <a:srgbClr val="741B47"/>
                </a:solidFill>
              </a:rPr>
              <a:t>Ethereum</a:t>
            </a:r>
            <a:r>
              <a:rPr b="1" lang="en-GB">
                <a:solidFill>
                  <a:srgbClr val="741B47"/>
                </a:solidFill>
              </a:rPr>
              <a:t>, </a:t>
            </a:r>
            <a:endParaRPr b="1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                        </a:t>
            </a:r>
            <a:endParaRPr b="1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                       a </a:t>
            </a:r>
            <a:r>
              <a:rPr b="1" lang="en-GB" sz="1700">
                <a:solidFill>
                  <a:srgbClr val="741B47"/>
                </a:solidFill>
              </a:rPr>
              <a:t>Python/FastAPI</a:t>
            </a:r>
            <a:r>
              <a:rPr b="1" lang="en-GB">
                <a:solidFill>
                  <a:srgbClr val="741B47"/>
                </a:solidFill>
              </a:rPr>
              <a:t> backend, </a:t>
            </a:r>
            <a:endParaRPr b="1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                              and a </a:t>
            </a:r>
            <a:r>
              <a:rPr b="1" lang="en-GB" sz="1800">
                <a:solidFill>
                  <a:srgbClr val="741B47"/>
                </a:solidFill>
              </a:rPr>
              <a:t>JavaScript/Web3</a:t>
            </a:r>
            <a:r>
              <a:rPr b="1" lang="en-GB">
                <a:solidFill>
                  <a:srgbClr val="741B47"/>
                </a:solidFill>
              </a:rPr>
              <a:t> frontend.</a:t>
            </a:r>
            <a:endParaRPr b="1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ctrTitle"/>
          </p:nvPr>
        </p:nvSpPr>
        <p:spPr>
          <a:xfrm>
            <a:off x="4572000" y="4610475"/>
            <a:ext cx="44214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GB" sz="1440">
                <a:solidFill>
                  <a:srgbClr val="741B47"/>
                </a:solidFill>
              </a:rPr>
              <a:t>Decentralised Voting System - </a:t>
            </a:r>
            <a:r>
              <a:rPr b="0" lang="en-GB" sz="1240">
                <a:solidFill>
                  <a:srgbClr val="741B47"/>
                </a:solidFill>
              </a:rPr>
              <a:t>Presented by Group 2</a:t>
            </a:r>
            <a:endParaRPr b="0" sz="1240">
              <a:solidFill>
                <a:srgbClr val="741B47"/>
              </a:solidFill>
            </a:endParaRPr>
          </a:p>
        </p:txBody>
      </p:sp>
      <p:sp>
        <p:nvSpPr>
          <p:cNvPr id="291" name="Google Shape;291;p15"/>
          <p:cNvSpPr txBox="1"/>
          <p:nvPr>
            <p:ph idx="1" type="subTitle"/>
          </p:nvPr>
        </p:nvSpPr>
        <p:spPr>
          <a:xfrm>
            <a:off x="229700" y="1764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 u="sng">
                <a:solidFill>
                  <a:srgbClr val="741B47"/>
                </a:solidFill>
              </a:rPr>
              <a:t>Purpose of  the</a:t>
            </a:r>
            <a:r>
              <a:rPr b="1" lang="en-GB" sz="2500" u="sng">
                <a:solidFill>
                  <a:srgbClr val="741B47"/>
                </a:solidFill>
              </a:rPr>
              <a:t> Project</a:t>
            </a:r>
            <a:endParaRPr b="1" sz="2500" u="sng">
              <a:solidFill>
                <a:srgbClr val="741B47"/>
              </a:solidFill>
            </a:endParaRPr>
          </a:p>
        </p:txBody>
      </p:sp>
      <p:sp>
        <p:nvSpPr>
          <p:cNvPr id="292" name="Google Shape;292;p15"/>
          <p:cNvSpPr txBox="1"/>
          <p:nvPr>
            <p:ph idx="1" type="subTitle"/>
          </p:nvPr>
        </p:nvSpPr>
        <p:spPr>
          <a:xfrm>
            <a:off x="663625" y="933550"/>
            <a:ext cx="8329800" cy="28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To </a:t>
            </a:r>
            <a:r>
              <a:rPr b="1" lang="en-GB" sz="1900">
                <a:solidFill>
                  <a:srgbClr val="741B47"/>
                </a:solidFill>
              </a:rPr>
              <a:t>demonstrate</a:t>
            </a:r>
            <a:r>
              <a:rPr b="1" lang="en-GB">
                <a:solidFill>
                  <a:srgbClr val="741B47"/>
                </a:solidFill>
              </a:rPr>
              <a:t> </a:t>
            </a:r>
            <a:endParaRPr b="1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         how </a:t>
            </a:r>
            <a:r>
              <a:rPr b="1" lang="en-GB" sz="3000">
                <a:solidFill>
                  <a:srgbClr val="741B47"/>
                </a:solidFill>
              </a:rPr>
              <a:t>blockchain </a:t>
            </a:r>
            <a:r>
              <a:rPr b="1" lang="en-GB">
                <a:solidFill>
                  <a:srgbClr val="741B47"/>
                </a:solidFill>
              </a:rPr>
              <a:t>can make voting </a:t>
            </a:r>
            <a:endParaRPr b="1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                      </a:t>
            </a:r>
            <a:r>
              <a:rPr b="1" lang="en-GB" sz="2400">
                <a:solidFill>
                  <a:srgbClr val="741B47"/>
                </a:solidFill>
              </a:rPr>
              <a:t>tamper-proof </a:t>
            </a:r>
            <a:r>
              <a:rPr b="1" lang="en-GB">
                <a:solidFill>
                  <a:srgbClr val="741B47"/>
                </a:solidFill>
              </a:rPr>
              <a:t>and </a:t>
            </a:r>
            <a:r>
              <a:rPr b="1" lang="en-GB" sz="2400">
                <a:solidFill>
                  <a:srgbClr val="741B47"/>
                </a:solidFill>
              </a:rPr>
              <a:t>transparent</a:t>
            </a:r>
            <a:r>
              <a:rPr b="1" lang="en-GB">
                <a:solidFill>
                  <a:srgbClr val="741B47"/>
                </a:solidFill>
              </a:rPr>
              <a:t>, </a:t>
            </a:r>
            <a:endParaRPr b="1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                 removing the </a:t>
            </a:r>
            <a:r>
              <a:rPr b="1" lang="en-GB" sz="1900">
                <a:solidFill>
                  <a:srgbClr val="741B47"/>
                </a:solidFill>
              </a:rPr>
              <a:t>need for a central authority</a:t>
            </a:r>
            <a:r>
              <a:rPr b="1" lang="en-GB">
                <a:solidFill>
                  <a:srgbClr val="741B47"/>
                </a:solidFill>
              </a:rPr>
              <a:t> to count or validate votes.</a:t>
            </a:r>
            <a:endParaRPr b="1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ctrTitle"/>
          </p:nvPr>
        </p:nvSpPr>
        <p:spPr>
          <a:xfrm>
            <a:off x="4572000" y="4610475"/>
            <a:ext cx="44214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GB" sz="1440">
                <a:solidFill>
                  <a:srgbClr val="741B47"/>
                </a:solidFill>
              </a:rPr>
              <a:t>Decentralised Voting System - </a:t>
            </a:r>
            <a:r>
              <a:rPr b="0" lang="en-GB" sz="1240">
                <a:solidFill>
                  <a:srgbClr val="741B47"/>
                </a:solidFill>
              </a:rPr>
              <a:t>Presented by Group 2</a:t>
            </a:r>
            <a:endParaRPr b="0" sz="1240">
              <a:solidFill>
                <a:srgbClr val="741B47"/>
              </a:solidFill>
            </a:endParaRPr>
          </a:p>
        </p:txBody>
      </p:sp>
      <p:sp>
        <p:nvSpPr>
          <p:cNvPr id="298" name="Google Shape;298;p16"/>
          <p:cNvSpPr txBox="1"/>
          <p:nvPr>
            <p:ph idx="1" type="subTitle"/>
          </p:nvPr>
        </p:nvSpPr>
        <p:spPr>
          <a:xfrm>
            <a:off x="229700" y="1764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 u="sng">
                <a:solidFill>
                  <a:srgbClr val="741B47"/>
                </a:solidFill>
              </a:rPr>
              <a:t>Technical stack</a:t>
            </a:r>
            <a:endParaRPr b="1" sz="2500" u="sng">
              <a:solidFill>
                <a:srgbClr val="741B47"/>
              </a:solidFill>
            </a:endParaRPr>
          </a:p>
        </p:txBody>
      </p:sp>
      <p:pic>
        <p:nvPicPr>
          <p:cNvPr id="299" name="Google Shape;2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150" y="871825"/>
            <a:ext cx="7602946" cy="343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ctrTitle"/>
          </p:nvPr>
        </p:nvSpPr>
        <p:spPr>
          <a:xfrm>
            <a:off x="4572000" y="4610475"/>
            <a:ext cx="44214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GB" sz="1440">
                <a:solidFill>
                  <a:srgbClr val="741B47"/>
                </a:solidFill>
              </a:rPr>
              <a:t>Decentralised Voting System - </a:t>
            </a:r>
            <a:r>
              <a:rPr b="0" lang="en-GB" sz="1240">
                <a:solidFill>
                  <a:srgbClr val="741B47"/>
                </a:solidFill>
              </a:rPr>
              <a:t>Presented by Group 2</a:t>
            </a:r>
            <a:endParaRPr b="0" sz="1240">
              <a:solidFill>
                <a:srgbClr val="741B47"/>
              </a:solidFill>
            </a:endParaRPr>
          </a:p>
        </p:txBody>
      </p:sp>
      <p:sp>
        <p:nvSpPr>
          <p:cNvPr id="305" name="Google Shape;305;p17"/>
          <p:cNvSpPr txBox="1"/>
          <p:nvPr>
            <p:ph idx="1" type="subTitle"/>
          </p:nvPr>
        </p:nvSpPr>
        <p:spPr>
          <a:xfrm>
            <a:off x="229700" y="1764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 u="sng">
                <a:solidFill>
                  <a:srgbClr val="741B47"/>
                </a:solidFill>
              </a:rPr>
              <a:t>Issues</a:t>
            </a:r>
            <a:endParaRPr b="1" sz="2500" u="sng">
              <a:solidFill>
                <a:srgbClr val="741B47"/>
              </a:solidFill>
            </a:endParaRPr>
          </a:p>
        </p:txBody>
      </p:sp>
      <p:sp>
        <p:nvSpPr>
          <p:cNvPr id="306" name="Google Shape;306;p17"/>
          <p:cNvSpPr txBox="1"/>
          <p:nvPr>
            <p:ph idx="1" type="subTitle"/>
          </p:nvPr>
        </p:nvSpPr>
        <p:spPr>
          <a:xfrm>
            <a:off x="663625" y="933550"/>
            <a:ext cx="3320400" cy="486300"/>
          </a:xfrm>
          <a:prstGeom prst="rect">
            <a:avLst/>
          </a:prstGeom>
          <a:solidFill>
            <a:srgbClr val="FF00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Passing passwords in plain  text</a:t>
            </a:r>
            <a:endParaRPr b="1">
              <a:solidFill>
                <a:srgbClr val="741B47"/>
              </a:solidFill>
            </a:endParaRPr>
          </a:p>
        </p:txBody>
      </p:sp>
      <p:sp>
        <p:nvSpPr>
          <p:cNvPr id="307" name="Google Shape;307;p17"/>
          <p:cNvSpPr txBox="1"/>
          <p:nvPr>
            <p:ph idx="1" type="subTitle"/>
          </p:nvPr>
        </p:nvSpPr>
        <p:spPr>
          <a:xfrm>
            <a:off x="663625" y="1774100"/>
            <a:ext cx="3320400" cy="486300"/>
          </a:xfrm>
          <a:prstGeom prst="rect">
            <a:avLst/>
          </a:prstGeom>
          <a:solidFill>
            <a:srgbClr val="FF99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Storing</a:t>
            </a:r>
            <a:r>
              <a:rPr b="1" lang="en-GB">
                <a:solidFill>
                  <a:srgbClr val="741B47"/>
                </a:solidFill>
              </a:rPr>
              <a:t> passwords in plain  text</a:t>
            </a:r>
            <a:endParaRPr b="1">
              <a:solidFill>
                <a:srgbClr val="741B47"/>
              </a:solidFill>
            </a:endParaRPr>
          </a:p>
        </p:txBody>
      </p:sp>
      <p:sp>
        <p:nvSpPr>
          <p:cNvPr id="308" name="Google Shape;308;p17"/>
          <p:cNvSpPr txBox="1"/>
          <p:nvPr>
            <p:ph idx="1" type="subTitle"/>
          </p:nvPr>
        </p:nvSpPr>
        <p:spPr>
          <a:xfrm>
            <a:off x="1931650" y="2571750"/>
            <a:ext cx="3320400" cy="4863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Bearer  token needs review</a:t>
            </a:r>
            <a:endParaRPr b="1">
              <a:solidFill>
                <a:srgbClr val="741B47"/>
              </a:solidFill>
            </a:endParaRPr>
          </a:p>
        </p:txBody>
      </p:sp>
      <p:sp>
        <p:nvSpPr>
          <p:cNvPr id="309" name="Google Shape;309;p17"/>
          <p:cNvSpPr txBox="1"/>
          <p:nvPr>
            <p:ph idx="1" type="subTitle"/>
          </p:nvPr>
        </p:nvSpPr>
        <p:spPr>
          <a:xfrm>
            <a:off x="1358200" y="3484025"/>
            <a:ext cx="4648500" cy="486300"/>
          </a:xfrm>
          <a:prstGeom prst="rect">
            <a:avLst/>
          </a:prstGeom>
          <a:solidFill>
            <a:srgbClr val="FF0000"/>
          </a:solidFill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No access control in the contract implementation</a:t>
            </a:r>
            <a:endParaRPr b="1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/>
          <p:nvPr>
            <p:ph type="ctrTitle"/>
          </p:nvPr>
        </p:nvSpPr>
        <p:spPr>
          <a:xfrm>
            <a:off x="4572000" y="4610475"/>
            <a:ext cx="4421400" cy="43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GB" sz="1440">
                <a:solidFill>
                  <a:srgbClr val="741B47"/>
                </a:solidFill>
              </a:rPr>
              <a:t>Decentralised Voting System - </a:t>
            </a:r>
            <a:r>
              <a:rPr b="0" lang="en-GB" sz="1240">
                <a:solidFill>
                  <a:srgbClr val="741B47"/>
                </a:solidFill>
              </a:rPr>
              <a:t>Presented by Group 2</a:t>
            </a:r>
            <a:endParaRPr b="0" sz="1240">
              <a:solidFill>
                <a:srgbClr val="741B47"/>
              </a:solidFill>
            </a:endParaRPr>
          </a:p>
        </p:txBody>
      </p:sp>
      <p:sp>
        <p:nvSpPr>
          <p:cNvPr id="315" name="Google Shape;315;p18"/>
          <p:cNvSpPr txBox="1"/>
          <p:nvPr>
            <p:ph idx="1" type="subTitle"/>
          </p:nvPr>
        </p:nvSpPr>
        <p:spPr>
          <a:xfrm>
            <a:off x="229700" y="1764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 u="sng">
                <a:solidFill>
                  <a:srgbClr val="741B47"/>
                </a:solidFill>
              </a:rPr>
              <a:t>Improvements</a:t>
            </a:r>
            <a:endParaRPr b="1" sz="2500" u="sng">
              <a:solidFill>
                <a:srgbClr val="741B47"/>
              </a:solidFill>
            </a:endParaRPr>
          </a:p>
        </p:txBody>
      </p:sp>
      <p:sp>
        <p:nvSpPr>
          <p:cNvPr id="316" name="Google Shape;316;p18"/>
          <p:cNvSpPr txBox="1"/>
          <p:nvPr>
            <p:ph idx="1" type="subTitle"/>
          </p:nvPr>
        </p:nvSpPr>
        <p:spPr>
          <a:xfrm>
            <a:off x="663625" y="933550"/>
            <a:ext cx="2246400" cy="4863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Project structure</a:t>
            </a:r>
            <a:endParaRPr b="1">
              <a:solidFill>
                <a:srgbClr val="741B47"/>
              </a:solidFill>
            </a:endParaRPr>
          </a:p>
        </p:txBody>
      </p:sp>
      <p:sp>
        <p:nvSpPr>
          <p:cNvPr id="317" name="Google Shape;317;p18"/>
          <p:cNvSpPr txBox="1"/>
          <p:nvPr>
            <p:ph idx="1" type="subTitle"/>
          </p:nvPr>
        </p:nvSpPr>
        <p:spPr>
          <a:xfrm>
            <a:off x="1168750" y="1774100"/>
            <a:ext cx="2815200" cy="486300"/>
          </a:xfrm>
          <a:prstGeom prst="rect">
            <a:avLst/>
          </a:prstGeom>
          <a:solidFill>
            <a:srgbClr val="00FF00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41B47"/>
                </a:solidFill>
              </a:rPr>
              <a:t>Enhancing security</a:t>
            </a:r>
            <a:endParaRPr b="1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"/>
          <p:cNvSpPr txBox="1"/>
          <p:nvPr>
            <p:ph type="ctrTitle"/>
          </p:nvPr>
        </p:nvSpPr>
        <p:spPr>
          <a:xfrm>
            <a:off x="824000" y="598375"/>
            <a:ext cx="6663300" cy="9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741B47"/>
                </a:solidFill>
              </a:rPr>
              <a:t>Decentralised Voting System</a:t>
            </a:r>
            <a:endParaRPr>
              <a:solidFill>
                <a:srgbClr val="741B47"/>
              </a:solidFill>
            </a:endParaRPr>
          </a:p>
        </p:txBody>
      </p:sp>
      <p:sp>
        <p:nvSpPr>
          <p:cNvPr id="323" name="Google Shape;323;p19"/>
          <p:cNvSpPr txBox="1"/>
          <p:nvPr>
            <p:ph idx="1" type="subTitle"/>
          </p:nvPr>
        </p:nvSpPr>
        <p:spPr>
          <a:xfrm>
            <a:off x="824000" y="32418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741B47"/>
                </a:solidFill>
              </a:rPr>
              <a:t>Presented by Group 2</a:t>
            </a:r>
            <a:endParaRPr>
              <a:solidFill>
                <a:srgbClr val="741B47"/>
              </a:solidFill>
            </a:endParaRPr>
          </a:p>
        </p:txBody>
      </p:sp>
      <p:sp>
        <p:nvSpPr>
          <p:cNvPr id="324" name="Google Shape;324;p19"/>
          <p:cNvSpPr txBox="1"/>
          <p:nvPr>
            <p:ph type="ctrTitle"/>
          </p:nvPr>
        </p:nvSpPr>
        <p:spPr>
          <a:xfrm>
            <a:off x="2764000" y="1945900"/>
            <a:ext cx="4875600" cy="95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741B47"/>
                </a:solidFill>
              </a:rPr>
              <a:t>Thank You !!!</a:t>
            </a:r>
            <a:endParaRPr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